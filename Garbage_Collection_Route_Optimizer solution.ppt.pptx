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20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1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19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88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143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629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567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73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77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37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40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90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89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439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077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78909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92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4631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09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37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999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184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73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798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7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99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1. 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4313" y="78867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/>
              <a:t>Smart route planning for efficient garbage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400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/>
              <a:t>Garbage Collection Route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738" y="1560159"/>
            <a:ext cx="632555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/>
              <a:t>
</a:t>
            </a:r>
            <a:r>
              <a:rPr lang="en-US" sz="1400" b="0" dirty="0"/>
              <a:t> </a:t>
            </a:r>
            <a:r>
              <a:rPr lang="en-US" sz="1600" b="0" dirty="0"/>
              <a:t>To </a:t>
            </a:r>
            <a:r>
              <a:rPr sz="1600" b="0" dirty="0"/>
              <a:t>Find an efficient route that visits selected collection points and returns to the depot.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6817" y="2738902"/>
            <a:ext cx="5585151" cy="2537577"/>
          </a:xfrm>
          <a:prstGeom prst="roundRect">
            <a:avLst/>
          </a:prstGeom>
          <a:solidFill>
            <a:srgbClr val="E8F1FA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dirty="0">
                <a:solidFill>
                  <a:schemeClr val="tx1"/>
                </a:solidFill>
              </a:rPr>
              <a:t>Team:</a:t>
            </a:r>
            <a:r>
              <a:rPr lang="en-IN" sz="3200" b="1" dirty="0">
                <a:solidFill>
                  <a:schemeClr val="tx1"/>
                </a:solidFill>
              </a:rPr>
              <a:t>  </a:t>
            </a:r>
            <a:r>
              <a:rPr lang="en-IN" sz="1600" b="1" dirty="0">
                <a:solidFill>
                  <a:schemeClr val="tx1"/>
                </a:solidFill>
              </a:rPr>
              <a:t>A. Sri Navya : (25MVCSMRO367)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                         CH. Sahasra : (25MVCSMRO383)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                           D. Sharonika : (25MVCSMRO387)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                      M. Pavani : (25MVCSMRO413)</a:t>
            </a:r>
          </a:p>
          <a:p>
            <a:pPr algn="ctr"/>
            <a:endParaRPr sz="15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38768" y="5655003"/>
            <a:ext cx="2743200" cy="731520"/>
          </a:xfrm>
          <a:prstGeom prst="roundRect">
            <a:avLst/>
          </a:prstGeom>
          <a:solidFill>
            <a:srgbClr val="EBF6EE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chemeClr val="tx1"/>
                </a:solidFill>
              </a:rPr>
              <a:t>Domain: Smart City / Waste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55209"/>
            <a:ext cx="411480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7909560" y="1600200"/>
            <a:ext cx="1737360" cy="228600"/>
          </a:xfrm>
          <a:prstGeom prst="line">
            <a:avLst/>
          </a:prstGeom>
          <a:ln w="25400">
            <a:solidFill>
              <a:srgbClr val="AFB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1828800"/>
            <a:ext cx="137160" cy="2468880"/>
          </a:xfrm>
          <a:prstGeom prst="line">
            <a:avLst/>
          </a:prstGeom>
          <a:ln w="25400">
            <a:solidFill>
              <a:srgbClr val="AFB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46920" y="1600200"/>
            <a:ext cx="1051560" cy="914400"/>
          </a:xfrm>
          <a:prstGeom prst="line">
            <a:avLst/>
          </a:prstGeom>
          <a:ln w="25400">
            <a:solidFill>
              <a:srgbClr val="AFB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046720" y="1600200"/>
            <a:ext cx="1600200" cy="2697480"/>
          </a:xfrm>
          <a:prstGeom prst="line">
            <a:avLst/>
          </a:prstGeom>
          <a:ln w="25400">
            <a:solidFill>
              <a:srgbClr val="AFB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966960" y="2514600"/>
            <a:ext cx="731520" cy="1280160"/>
          </a:xfrm>
          <a:prstGeom prst="line">
            <a:avLst/>
          </a:prstGeom>
          <a:ln w="25400">
            <a:solidFill>
              <a:srgbClr val="AFB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823960" y="2514600"/>
            <a:ext cx="1874520" cy="274320"/>
          </a:xfrm>
          <a:prstGeom prst="line">
            <a:avLst/>
          </a:prstGeom>
          <a:ln w="25400">
            <a:solidFill>
              <a:srgbClr val="AFB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046720" y="3794760"/>
            <a:ext cx="1920240" cy="502920"/>
          </a:xfrm>
          <a:prstGeom prst="line">
            <a:avLst/>
          </a:prstGeom>
          <a:ln w="25400">
            <a:solidFill>
              <a:srgbClr val="AFB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8823960" y="2788920"/>
            <a:ext cx="1143000" cy="1005840"/>
          </a:xfrm>
          <a:prstGeom prst="line">
            <a:avLst/>
          </a:prstGeom>
          <a:ln w="25400">
            <a:solidFill>
              <a:srgbClr val="AFB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46720" y="2788920"/>
            <a:ext cx="777240" cy="1508760"/>
          </a:xfrm>
          <a:prstGeom prst="line">
            <a:avLst/>
          </a:prstGeom>
          <a:ln w="25400">
            <a:solidFill>
              <a:srgbClr val="AFB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763256" y="1682496"/>
            <a:ext cx="292608" cy="292608"/>
          </a:xfrm>
          <a:prstGeom prst="ellipse">
            <a:avLst/>
          </a:prstGeom>
          <a:solidFill>
            <a:srgbClr val="327D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17190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Depot</a:t>
            </a:r>
          </a:p>
        </p:txBody>
      </p:sp>
      <p:sp>
        <p:nvSpPr>
          <p:cNvPr id="20" name="Oval 19"/>
          <p:cNvSpPr/>
          <p:nvPr/>
        </p:nvSpPr>
        <p:spPr>
          <a:xfrm>
            <a:off x="9500616" y="1453896"/>
            <a:ext cx="292608" cy="292608"/>
          </a:xfrm>
          <a:prstGeom prst="ellipse">
            <a:avLst/>
          </a:prstGeom>
          <a:solidFill>
            <a:srgbClr val="327D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29800" y="14904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10552176" y="2368296"/>
            <a:ext cx="292608" cy="292608"/>
          </a:xfrm>
          <a:prstGeom prst="ellipse">
            <a:avLst/>
          </a:prstGeom>
          <a:solidFill>
            <a:srgbClr val="327D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59" y="24048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9806940" y="3634623"/>
            <a:ext cx="292608" cy="292608"/>
          </a:xfrm>
          <a:prstGeom prst="ellipse">
            <a:avLst/>
          </a:prstGeom>
          <a:solidFill>
            <a:srgbClr val="327D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0" y="36850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C</a:t>
            </a:r>
          </a:p>
        </p:txBody>
      </p:sp>
      <p:sp>
        <p:nvSpPr>
          <p:cNvPr id="26" name="Oval 25"/>
          <p:cNvSpPr/>
          <p:nvPr/>
        </p:nvSpPr>
        <p:spPr>
          <a:xfrm>
            <a:off x="7900416" y="4151376"/>
            <a:ext cx="292608" cy="292608"/>
          </a:xfrm>
          <a:prstGeom prst="ellipse">
            <a:avLst/>
          </a:prstGeom>
          <a:solidFill>
            <a:srgbClr val="327D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4187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8677656" y="2642615"/>
            <a:ext cx="292608" cy="292608"/>
          </a:xfrm>
          <a:prstGeom prst="ellipse">
            <a:avLst/>
          </a:prstGeom>
          <a:solidFill>
            <a:srgbClr val="327D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2679191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7091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/>
              <a:t>Road network + collection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2.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120" y="891314"/>
            <a:ext cx="364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The real</a:t>
            </a:r>
            <a:r>
              <a:rPr lang="en-IN" sz="1600" b="0" dirty="0"/>
              <a:t> </a:t>
            </a:r>
            <a:r>
              <a:rPr sz="1600" b="0" dirty="0"/>
              <a:t>world problem behind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8571" y="1362456"/>
            <a:ext cx="258910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/>
              <a:t>Real</a:t>
            </a:r>
            <a:r>
              <a:rPr lang="en-IN" sz="2200" b="1" dirty="0"/>
              <a:t> - </a:t>
            </a:r>
            <a:r>
              <a:rPr sz="2200" b="1" dirty="0"/>
              <a:t>world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120" y="1993392"/>
            <a:ext cx="4623619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Garbage trucks must visit multiple collection locations.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• The order of visits affects total travel distance and time.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• Manual planning becomes harder as locations and roads increase.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7542" y="1407681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/>
              <a:t>Key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7542" y="2154896"/>
            <a:ext cx="4757338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• Many possible route combinations.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• Avoid unnecessary travel while covering every required point.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• The final route should be simple enough for an operator to follow.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350053"/>
            <a:ext cx="9966960" cy="914400"/>
          </a:xfrm>
          <a:prstGeom prst="roundRect">
            <a:avLst/>
          </a:prstGeom>
          <a:solidFill>
            <a:srgbClr val="EBF6EE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>
                <a:solidFill>
                  <a:schemeClr val="tx1"/>
                </a:solidFill>
              </a:rPr>
              <a:t>Goal: cover all selected collection points with an efficient, explainable route</a:t>
            </a:r>
            <a:r>
              <a:rPr sz="2100" b="1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5621069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/>
              <a:t>Waste collection  →  Routing problem  → 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3. 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/>
              <a:t>A simple combination of two routing ideas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743200" cy="914400"/>
          </a:xfrm>
          <a:prstGeom prst="roundRect">
            <a:avLst/>
          </a:prstGeom>
          <a:solidFill>
            <a:srgbClr val="E8F1FA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0070C0"/>
                </a:solidFill>
              </a:rPr>
              <a:t>Dijkstra
Shortest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280160"/>
            <a:ext cx="2743200" cy="914400"/>
          </a:xfrm>
          <a:prstGeom prst="roundRect">
            <a:avLst/>
          </a:prstGeom>
          <a:solidFill>
            <a:srgbClr val="F2EEFA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7030A0"/>
                </a:solidFill>
              </a:rPr>
              <a:t>Greedy
Next-stop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280160"/>
            <a:ext cx="2743200" cy="914400"/>
          </a:xfrm>
          <a:prstGeom prst="roundRect">
            <a:avLst/>
          </a:prstGeom>
          <a:solidFill>
            <a:srgbClr val="EBF6EE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00B050"/>
                </a:solidFill>
              </a:rPr>
              <a:t>Interactive map
Visual route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1280160"/>
            <a:ext cx="1828800" cy="914400"/>
          </a:xfrm>
          <a:prstGeom prst="roundRect">
            <a:avLst/>
          </a:prstGeom>
          <a:solidFill>
            <a:srgbClr val="FAF4E8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chemeClr val="accent4"/>
                </a:solidFill>
              </a:rPr>
              <a:t>Metrics
Distance +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/>
              <a:t>What makes our solution different?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241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Dijkstra finds least-cost paths through the road network.</a:t>
            </a:r>
          </a:p>
          <a:p>
            <a:pPr>
              <a:spcAft>
                <a:spcPts val="800"/>
              </a:spcAft>
              <a:defRPr sz="1800"/>
            </a:pPr>
            <a:r>
              <a:t>• Greedy chooses the nearest unvisited collection point at each step.</a:t>
            </a:r>
          </a:p>
          <a:p>
            <a:pPr>
              <a:spcAft>
                <a:spcPts val="800"/>
              </a:spcAft>
              <a:defRPr sz="1800"/>
            </a:pPr>
            <a:r>
              <a:t>• The route, distance and decision sequence are visible to the user.</a:t>
            </a:r>
          </a:p>
          <a:p>
            <a:pPr>
              <a:spcAft>
                <a:spcPts val="800"/>
              </a:spcAft>
              <a:defRPr sz="1800"/>
            </a:pPr>
            <a:r>
              <a:t>• This keeps the prototype fast, understandable and demo-friendly.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577840"/>
            <a:ext cx="10058400" cy="502920"/>
          </a:xfrm>
          <a:prstGeom prst="roundRect">
            <a:avLst/>
          </a:prstGeom>
          <a:solidFill>
            <a:srgbClr val="EBF6EE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chemeClr val="tx1"/>
                </a:solidFill>
              </a:rPr>
              <a:t>Core idea: shortest paths + smart next-stop selection + visual explanation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4.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/>
              <a:t>Input → Processing → Algorithm →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28600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070C0"/>
                </a:solidFill>
              </a:rPr>
              <a:t>INPUT
Depot + points
+ weighted 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7208" y="18745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/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39" y="1417320"/>
            <a:ext cx="228600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070C0"/>
                </a:solidFill>
              </a:rPr>
              <a:t>PROCESS
Build weighted
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6127" y="18745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/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0176" y="1417320"/>
            <a:ext cx="228600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070C0"/>
                </a:solidFill>
              </a:rPr>
              <a:t>ALGORITHM
Dijkstra +
Greedy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18745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/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417320"/>
            <a:ext cx="228600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070C0"/>
                </a:solidFill>
              </a:rPr>
              <a:t>OUTPUT
Route + distance
+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/>
              <a:t>User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Select collection points.</a:t>
            </a:r>
          </a:p>
          <a:p>
            <a:pPr>
              <a:spcAft>
                <a:spcPts val="800"/>
              </a:spcAft>
              <a:defRPr sz="1700"/>
            </a:pPr>
            <a:r>
              <a:t>• Click Optimize Route.</a:t>
            </a:r>
          </a:p>
          <a:p>
            <a:pPr>
              <a:spcAft>
                <a:spcPts val="800"/>
              </a:spcAft>
              <a:defRPr sz="1700"/>
            </a:pPr>
            <a:r>
              <a:t>• Review route and metrics.</a:t>
            </a:r>
          </a:p>
          <a:p>
            <a:pPr>
              <a:spcAft>
                <a:spcPts val="800"/>
              </a:spcAft>
              <a:defRPr sz="1700"/>
            </a:pPr>
            <a:r>
              <a:t>• Use the map for planning.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429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/>
              <a:t>Decision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840480"/>
            <a:ext cx="4937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Start at depot.</a:t>
            </a:r>
          </a:p>
          <a:p>
            <a:pPr>
              <a:spcAft>
                <a:spcPts val="800"/>
              </a:spcAft>
              <a:defRPr sz="1700"/>
            </a:pPr>
            <a:r>
              <a:t>• Find shortest travel cost to remaining points.</a:t>
            </a:r>
          </a:p>
          <a:p>
            <a:pPr>
              <a:spcAft>
                <a:spcPts val="800"/>
              </a:spcAft>
              <a:defRPr sz="1700"/>
            </a:pPr>
            <a:r>
              <a:t>• Choose the nearest unvisited point.</a:t>
            </a:r>
          </a:p>
          <a:p>
            <a:pPr>
              <a:spcAft>
                <a:spcPts val="800"/>
              </a:spcAft>
              <a:defRPr sz="1700"/>
            </a:pPr>
            <a:r>
              <a:t>• Repeat; finally return to depot.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5. Technology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45778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Why these technologies and algorithms were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/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23768"/>
            <a:ext cx="3937296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rPr dirty="0"/>
              <a:t>• Python — application and algorithm logic</a:t>
            </a:r>
          </a:p>
          <a:p>
            <a:pPr>
              <a:spcAft>
                <a:spcPts val="800"/>
              </a:spcAft>
              <a:defRPr sz="1700"/>
            </a:pPr>
            <a:r>
              <a:rPr dirty="0"/>
              <a:t>• Stream</a:t>
            </a:r>
            <a:r>
              <a:rPr lang="en-IN" dirty="0"/>
              <a:t> </a:t>
            </a:r>
            <a:r>
              <a:rPr dirty="0"/>
              <a:t>lit — interactive web UI</a:t>
            </a:r>
          </a:p>
          <a:p>
            <a:pPr>
              <a:spcAft>
                <a:spcPts val="800"/>
              </a:spcAft>
              <a:defRPr sz="1700"/>
            </a:pPr>
            <a:r>
              <a:rPr dirty="0"/>
              <a:t>• Network</a:t>
            </a:r>
            <a:r>
              <a:rPr lang="en-IN" dirty="0"/>
              <a:t> </a:t>
            </a:r>
            <a:r>
              <a:rPr dirty="0"/>
              <a:t>X — graph and shortest paths</a:t>
            </a:r>
          </a:p>
          <a:p>
            <a:pPr>
              <a:spcAft>
                <a:spcPts val="800"/>
              </a:spcAft>
              <a:defRPr sz="1700"/>
            </a:pPr>
            <a:r>
              <a:rPr dirty="0"/>
              <a:t>• Folium / Leaflet — map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4630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/>
              <a:t>Algorithms +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2111182"/>
            <a:ext cx="5029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dirty="0"/>
              <a:t>• Dijkstra: shortest path on a weighted graph.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Typical heap implementation: O((V + E) log V).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Greedy: repeatedly choose the nearest unvisited target.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Repeated-Dijkstra approach for k targets: approximately O(k(V + E) log V).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00600"/>
            <a:ext cx="10424160" cy="914400"/>
          </a:xfrm>
          <a:prstGeom prst="roundRect">
            <a:avLst/>
          </a:prstGeom>
          <a:solidFill>
            <a:srgbClr val="EBF6EE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Why? Dijkstra is reliable for non-negative road costs; Greedy is fast, simple and easy to explain</a:t>
            </a:r>
            <a:r>
              <a:rPr sz="1800" b="1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6. 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64479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Sample prototype output — ready to replace with your real app screenshot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59" y="1280160"/>
            <a:ext cx="658368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828800"/>
            <a:ext cx="777240" cy="2377440"/>
          </a:xfrm>
          <a:prstGeom prst="line">
            <a:avLst/>
          </a:prstGeom>
          <a:ln w="50800">
            <a:solidFill>
              <a:srgbClr val="2D8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828800" y="3246120"/>
            <a:ext cx="1554480" cy="960120"/>
          </a:xfrm>
          <a:prstGeom prst="line">
            <a:avLst/>
          </a:prstGeom>
          <a:ln w="50800">
            <a:solidFill>
              <a:srgbClr val="2D8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383280" y="3246120"/>
            <a:ext cx="1371600" cy="868680"/>
          </a:xfrm>
          <a:prstGeom prst="line">
            <a:avLst/>
          </a:prstGeom>
          <a:ln w="50800">
            <a:solidFill>
              <a:srgbClr val="2D8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754880" y="2057400"/>
            <a:ext cx="914400" cy="2057400"/>
          </a:xfrm>
          <a:prstGeom prst="line">
            <a:avLst/>
          </a:prstGeom>
          <a:ln w="50800">
            <a:solidFill>
              <a:srgbClr val="2D8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3886200" y="1508760"/>
            <a:ext cx="1783080" cy="548640"/>
          </a:xfrm>
          <a:prstGeom prst="line">
            <a:avLst/>
          </a:prstGeom>
          <a:ln w="50800">
            <a:solidFill>
              <a:srgbClr val="2D8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51560" y="1508760"/>
            <a:ext cx="2834640" cy="320040"/>
          </a:xfrm>
          <a:prstGeom prst="line">
            <a:avLst/>
          </a:prstGeom>
          <a:ln w="50800">
            <a:solidFill>
              <a:srgbClr val="2D8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14399" y="1691640"/>
            <a:ext cx="274320" cy="274320"/>
          </a:xfrm>
          <a:prstGeom prst="ellipse">
            <a:avLst/>
          </a:prstGeom>
          <a:solidFill>
            <a:srgbClr val="2D82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16151" y="17373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Depot</a:t>
            </a:r>
          </a:p>
        </p:txBody>
      </p:sp>
      <p:sp>
        <p:nvSpPr>
          <p:cNvPr id="13" name="Oval 12"/>
          <p:cNvSpPr/>
          <p:nvPr/>
        </p:nvSpPr>
        <p:spPr>
          <a:xfrm>
            <a:off x="1691640" y="4069079"/>
            <a:ext cx="274320" cy="274320"/>
          </a:xfrm>
          <a:prstGeom prst="ellipse">
            <a:avLst/>
          </a:prstGeom>
          <a:solidFill>
            <a:srgbClr val="2D82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93392" y="4114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3246120" y="3108960"/>
            <a:ext cx="274320" cy="274320"/>
          </a:xfrm>
          <a:prstGeom prst="ellipse">
            <a:avLst/>
          </a:prstGeom>
          <a:solidFill>
            <a:srgbClr val="2D82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3154679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3977639"/>
            <a:ext cx="274320" cy="274320"/>
          </a:xfrm>
          <a:prstGeom prst="ellipse">
            <a:avLst/>
          </a:prstGeom>
          <a:solidFill>
            <a:srgbClr val="2D82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19472" y="40233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E</a:t>
            </a:r>
          </a:p>
        </p:txBody>
      </p:sp>
      <p:sp>
        <p:nvSpPr>
          <p:cNvPr id="19" name="Oval 18"/>
          <p:cNvSpPr/>
          <p:nvPr/>
        </p:nvSpPr>
        <p:spPr>
          <a:xfrm>
            <a:off x="5532120" y="1948291"/>
            <a:ext cx="274320" cy="274320"/>
          </a:xfrm>
          <a:prstGeom prst="ellipse">
            <a:avLst/>
          </a:prstGeom>
          <a:solidFill>
            <a:srgbClr val="2D82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33872" y="196596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3749039" y="1371600"/>
            <a:ext cx="274320" cy="274320"/>
          </a:xfrm>
          <a:prstGeom prst="ellipse">
            <a:avLst/>
          </a:prstGeom>
          <a:solidFill>
            <a:srgbClr val="2D82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50791" y="1417319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/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/>
              <a:t>Sample route: Depot → D → C → E → B → A → Depot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/>
              <a:t>Sample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783080"/>
            <a:ext cx="3566160" cy="777240"/>
          </a:xfrm>
          <a:prstGeom prst="roundRect">
            <a:avLst/>
          </a:prstGeom>
          <a:solidFill>
            <a:srgbClr val="E8F1FA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>
                <a:solidFill>
                  <a:srgbClr val="0070C0"/>
                </a:solidFill>
              </a:rPr>
              <a:t>Total distance
19 km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2743200"/>
            <a:ext cx="3566160" cy="777240"/>
          </a:xfrm>
          <a:prstGeom prst="roundRect">
            <a:avLst/>
          </a:prstGeom>
          <a:solidFill>
            <a:srgbClr val="EBF6EE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>
                <a:solidFill>
                  <a:srgbClr val="00B050"/>
                </a:solidFill>
              </a:rPr>
              <a:t>Coverage
5 / 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3703320"/>
            <a:ext cx="3566160" cy="777240"/>
          </a:xfrm>
          <a:prstGeom prst="roundRect">
            <a:avLst/>
          </a:prstGeom>
          <a:solidFill>
            <a:srgbClr val="FAF4E8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>
                <a:solidFill>
                  <a:schemeClr val="accent4"/>
                </a:solidFill>
              </a:rPr>
              <a:t>Return to depot
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70916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/>
              <a:t>Benefits:
• less avoidable travel
• clear route decisions
• visual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7.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47632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Scale the prototype toward a smart-city routing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1" y="14630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dirty="0"/>
              <a:t>Current achievement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35769"/>
            <a:ext cx="33832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dirty="0"/>
              <a:t>• Working route-optimization prototype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Dijkstra + Greedy logic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Map-based route visualization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Distance and coverage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dirty="0"/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050026"/>
            <a:ext cx="3383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dirty="0"/>
              <a:t>• Live GPS and traffic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Multiple trucks + capacity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Database-backed CRUD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Priority/time-window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4360" y="14630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dirty="0"/>
              <a:t>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35769"/>
            <a:ext cx="3383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dirty="0"/>
              <a:t>• Larger road graphs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Municipal datasets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Cloud deployment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• Analytics and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09160"/>
            <a:ext cx="9966960" cy="868680"/>
          </a:xfrm>
          <a:prstGeom prst="roundRect">
            <a:avLst/>
          </a:prstGeom>
          <a:solidFill>
            <a:srgbClr val="EBF6EE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</a:rPr>
              <a:t>Final takeaway: turn manual waste-route planning into a data-driven, explainable optimization process</a:t>
            </a:r>
            <a:r>
              <a:rPr sz="1900" b="1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5BE22E-FD13-A4AE-E7C4-58D7F78E164F}"/>
              </a:ext>
            </a:extLst>
          </p:cNvPr>
          <p:cNvSpPr txBox="1"/>
          <p:nvPr/>
        </p:nvSpPr>
        <p:spPr>
          <a:xfrm>
            <a:off x="5158154" y="5908431"/>
            <a:ext cx="1520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128</TotalTime>
  <Words>658</Words>
  <Application>Microsoft Office PowerPoint</Application>
  <PresentationFormat>Widescreen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Sahasra reddy</dc:creator>
  <cp:keywords/>
  <dc:description>generated using python-pptx</dc:description>
  <cp:lastModifiedBy>sharonikadara@outlook.com</cp:lastModifiedBy>
  <cp:revision>5</cp:revision>
  <dcterms:created xsi:type="dcterms:W3CDTF">2013-01-27T09:14:16Z</dcterms:created>
  <dcterms:modified xsi:type="dcterms:W3CDTF">2026-10-03T08:45:20Z</dcterms:modified>
  <cp:category/>
</cp:coreProperties>
</file>